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3" r:id="rId2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CA00-0E90-E3FC-DA7C-CD980CE2A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AFD3B-BD84-3660-4BB6-150E5F0C2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8BE6A-1414-9AC9-6BF9-F34C0D42F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52A0-160A-421E-AA98-D8283795567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BD882-1BEC-1B1B-1591-3DD26677F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E9FD-AB6B-3C34-8BC5-7A703A448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BC8B-1952-4C2F-910C-67357C57D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946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1F486-2F3E-DE29-63B7-9A608EAB7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D7D03-8351-DC44-1741-F12C758A5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18A5-0C0F-44AB-1A33-E44D7CA19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52A0-160A-421E-AA98-D8283795567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F5076-0FAE-3634-C5B6-67B8BD42D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38CAF-0F0C-C057-F8C4-D06BB1CFD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BC8B-1952-4C2F-910C-67357C57D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4129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F14D14-8E25-93AC-3BFF-B1A1A9F16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6830D-E4B0-382D-F836-6CBA79C7B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2162D-A51A-9892-0F40-75F116906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E152A0-160A-421E-AA98-D8283795567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25DF9-3249-5E9E-2650-8E69862B6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688E0-D0B5-C589-2ABE-3DFC08CC8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ABC8B-1952-4C2F-910C-67357C57D07F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white rectangular frame with a blue and pink border&#10;&#10;Description automatically generated">
            <a:extLst>
              <a:ext uri="{FF2B5EF4-FFF2-40B4-BE49-F238E27FC236}">
                <a16:creationId xmlns:a16="http://schemas.microsoft.com/office/drawing/2014/main" id="{10B50E92-7357-954C-B164-107C49DC43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black sign with white text&#10;&#10;Description automatically generated">
            <a:extLst>
              <a:ext uri="{FF2B5EF4-FFF2-40B4-BE49-F238E27FC236}">
                <a16:creationId xmlns:a16="http://schemas.microsoft.com/office/drawing/2014/main" id="{458CCFC5-52C8-BDB5-727F-884E3056F92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6373" y="218396"/>
            <a:ext cx="2099103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7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0102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Human-Centered Framework for Translating Legal Documents to Secure Smart Contracts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Deepak Bhatt</a:t>
            </a:r>
          </a:p>
          <a:p>
            <a:r>
              <a:t>Computer Science &amp; Engineering</a:t>
            </a:r>
          </a:p>
          <a:p>
            <a:r>
              <a:t>Uttaranchal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Research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Semantic disconnect between traditional legal prose and deterministic code.</a:t>
            </a:r>
          </a:p>
          <a:p>
            <a:r>
              <a:t>High technical barrier preventing legal professionals from authoring smart contracts.</a:t>
            </a:r>
          </a:p>
          <a:p>
            <a:r>
              <a:t>Unilateral execution of code often ignores human-centric nuances (e.g., fairness, bias).</a:t>
            </a:r>
          </a:p>
          <a:p>
            <a:r>
              <a:t>High risk of vulnerabilities resulting from manual, ad-hoc smart contract coding.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Rapid adoption of decentralized finance (DeFi) and automated legal agreements.</a:t>
            </a:r>
          </a:p>
          <a:p>
            <a:r>
              <a:t>Escalating financial losses due to logic flaws in smart contract code.</a:t>
            </a:r>
          </a:p>
          <a:p>
            <a:r>
              <a:t>Regulatory demands for explainable automated systems.</a:t>
            </a:r>
          </a:p>
          <a:p>
            <a:r>
              <a:t>Need to empower domain experts (lawyers) rather than relying solely on software engineers.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parsers focus solely on parameter extraction, ignoring clause fairness.</a:t>
            </a:r>
          </a:p>
          <a:p>
            <a:r>
              <a:t>Current automated generators lack verifiable, secure base templates.</a:t>
            </a:r>
          </a:p>
          <a:p>
            <a:r>
              <a:t>Absence of a cohesive, human-in-the-loop review mechanism prior to deployment.</a:t>
            </a:r>
          </a:p>
          <a:p>
            <a:r>
              <a:t>Missing integration of automated bias auditing within the smart contract compilation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systematically translate natural language legal texts into executable, secure, and transparent smart contracts while preserving human-in-the-loop oversight and fairness.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 &amp;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 1: Investigate smart contract principles for legal docs. (Completed)</a:t>
            </a:r>
          </a:p>
          <a:p>
            <a:r>
              <a:t>Objective 2: Evaluate security features (integrity, audit trails). (Completed)</a:t>
            </a:r>
          </a:p>
          <a:p>
            <a:r>
              <a:t>Objective 3: Propose comprehensive framework implementation. (Completed - Prototype Live)</a:t>
            </a:r>
          </a:p>
          <a:p>
            <a:r>
              <a:t>Objective 4: Measure framework effectiveness (time/cost metrics). (In Progress - Empirical Phase)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Ingestion &amp; Analysis - NLP parsing of unilateral and bilateral clauses.</a:t>
            </a:r>
          </a:p>
          <a:p>
            <a:r>
              <a:t>Phase 2: The Collaborative Workspace - Plain-language translation and fairness warnings.</a:t>
            </a:r>
          </a:p>
          <a:p>
            <a:r>
              <a:t>Phase 3: Secure Compilation - Parameter mapping to verified architectural templates.</a:t>
            </a:r>
          </a:p>
          <a:p>
            <a:r>
              <a:t>Phase 4: Blockchain Deployment - Automated testing and on-chain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Tier 1 (Intelligent Document Module): Python/spaCy environment for entity extraction and linguistic bias detection.</a:t>
            </a:r>
          </a:p>
          <a:p>
            <a:r>
              <a:t>Tier 2 (Generation Engine): Jinja2 templating system matching approved parameters to modular Solidity blueprints.</a:t>
            </a:r>
          </a:p>
          <a:p>
            <a:r>
              <a:t>Tier 3 (Blockchain Integration): Hardhat environment managing automated compilation, deployment, and audit trail logging.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Approach: Design Science Research (DSR) methodology.</a:t>
            </a:r>
          </a:p>
          <a:p>
            <a:r>
              <a:t>Iterative Prototyping: Continuous refinement based on security static analysis and user feedback.</a:t>
            </a:r>
          </a:p>
          <a:p>
            <a:r>
              <a:t>Data Sources: Synthesized unilateral lease agreements and escrow contracts for baseline testing.</a:t>
            </a:r>
          </a:p>
          <a:p>
            <a:r>
              <a:t>Validation Strategy: Combining computational static analysis with empirical human-centric trials.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Document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Contextual Parsing: Identification of entities (e.g., Payer, Payee, Value).</a:t>
            </a:r>
          </a:p>
          <a:p>
            <a:r>
              <a:t>Bias Detection: Flagging gendered pronouns and unilateral power imbalances.</a:t>
            </a:r>
          </a:p>
          <a:p>
            <a:r>
              <a:t>Fairness Scoring: Quantitative assessment of clause equity.</a:t>
            </a:r>
          </a:p>
          <a:p>
            <a:r>
              <a:t>Client Explainability: Translating complex legalese into plain-language warnings.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Smart Contract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Template-Based Paradigm: Utilizing predefined .j2 blueprints.</a:t>
            </a:r>
          </a:p>
          <a:p>
            <a:r>
              <a:t>Inheritance Model: All templates inherit from BaseLegalContract.sol.</a:t>
            </a:r>
          </a:p>
          <a:p>
            <a:r>
              <a:t>Parameter Injection: Deterministic mapping of NLP variables directly to contract state variables.</a:t>
            </a:r>
          </a:p>
          <a:p>
            <a:r>
              <a:t>Fallback Mechanisms: System defaults to human review for any partial linguistic matches.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Validation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Analysis: Integration with slither-analyzer to detect reentrancy.</a:t>
            </a:r>
          </a:p>
          <a:p>
            <a:r>
              <a:t>Unit Testing: 14 Hardhat test suites validating state transitions.</a:t>
            </a:r>
          </a:p>
          <a:p>
            <a:r>
              <a:t>Access Control: Implementation of Role-Based Access Control (RBAC).</a:t>
            </a:r>
          </a:p>
          <a:p>
            <a:r>
              <a:t>Auditability: Immutable logging of the human approval process prior to contract generation.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Computational Metrics: Gas optimization, deployment latency, and static analysis success rates.</a:t>
            </a:r>
          </a:p>
          <a:p>
            <a:r>
              <a:t>NLP Accuracy: Precision and recall metrics for entity extraction and bias flagging.</a:t>
            </a:r>
          </a:p>
          <a:p>
            <a:r>
              <a:t>Empirical Testing: Assessing time-to-deployment compared to traditional manual drafting.</a:t>
            </a:r>
          </a:p>
          <a:p>
            <a:r>
              <a:t>User Interpretability: Measuring legal professional comprehension of the generated audit reports.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Prototype Deployment: End-to-end framework live on the Virtual Private Server (VPS).</a:t>
            </a:r>
          </a:p>
          <a:p>
            <a:r>
              <a:t>Security Clearances: All 14 foundational smart contract tests passing with zero vulnerabilities.</a:t>
            </a:r>
          </a:p>
          <a:p>
            <a:r>
              <a:t>NLP Validation: Successful identification of unilateral clauses in test lease agreements.</a:t>
            </a:r>
          </a:p>
          <a:p>
            <a:r>
              <a:t>System Integration: Flawless state transfer from the Django/spaCy backend to Hardhat.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Theoretical: A novel human-centric framework mapping legal prose to deterministic state machines.</a:t>
            </a:r>
          </a:p>
          <a:p>
            <a:r>
              <a:t>Methodological: Introduction of automated fairness and bias auditing in the smart contract pipeline.</a:t>
            </a:r>
          </a:p>
          <a:p>
            <a:r>
              <a:t>Practical: An end-to-end prototype empowering legal professionals to utilize blockchain.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Steps: Conduct human-in-the-loop trials with domain experts.</a:t>
            </a:r>
          </a:p>
          <a:p>
            <a:r>
              <a:t>NLP Expansion: Broaden the training data to include complex, multi-party corporate agreements.</a:t>
            </a:r>
          </a:p>
          <a:p>
            <a:r>
              <a:t>System Optimization: Refine Jinja2 templates based on gas consumption analysis.</a:t>
            </a:r>
          </a:p>
          <a:p>
            <a:r>
              <a:t>Long-term Vision: Integration with decentralized identity (DID) verification protocols.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contracts require both technical security and legal fairness.</a:t>
            </a:r>
          </a:p>
          <a:p>
            <a:r>
              <a:t>The proposed framework successfully integrates NLP auditing with secure template generation.</a:t>
            </a:r>
          </a:p>
          <a:p>
            <a:r>
              <a:t>Legal professionals are re-inserted into the technical loop, ensuring explainability.</a:t>
            </a:r>
          </a:p>
          <a:p>
            <a:r>
              <a:t>The system is currently stable and transitioning to final empirical evaluations.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Identifying the Human-Centric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Zou, W., et al. (2021): Highlighted usability and domain-specific challenges in smart contract development lifecycles.</a:t>
            </a:r>
          </a:p>
          <a:p>
            <a:r>
              <a:t>Bassan, F., &amp; Rabitti, M. (2024): Demonstrated that real-world, human-centric factors are frequently overlooked in purely technical blockchain transitions.</a:t>
            </a:r>
          </a:p>
          <a:p>
            <a:r>
              <a:t>Ahmed, S. U., et al. (2024): Proposed NLP for contract generation. Our framework extends this by introducing crucial human-in-the-loop validation mechanisms.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Security &amp; Architecture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Nelaturu, K., et al. (2023): Emphasized the necessity of 'correct-by-design' formal verification before deployment.</a:t>
            </a:r>
          </a:p>
          <a:p>
            <a:r>
              <a:t>Skotnica, M., et al. (2020): Advocated for a model-driven approach, justifying our use of pre-approved templates over from-scratch coding.</a:t>
            </a:r>
          </a:p>
          <a:p>
            <a:r>
              <a:t>Wei, G., et al. (2024): Supported consolidating smart contracts with behavioral logic to accurately reflect the 'intent' of legal agreements.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Bhatt</dc:creator>
  <cp:lastModifiedBy>Deepak Bhatt</cp:lastModifiedBy>
  <cp:revision>1</cp:revision>
  <dcterms:created xsi:type="dcterms:W3CDTF">2026-08-07T13:53:08Z</dcterms:created>
  <dcterms:modified xsi:type="dcterms:W3CDTF">2026-08-07T13:53:44Z</dcterms:modified>
</cp:coreProperties>
</file>